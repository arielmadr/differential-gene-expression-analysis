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326" r:id="rId5"/>
    <p:sldId id="259" r:id="rId6"/>
    <p:sldId id="545" r:id="rId7"/>
    <p:sldId id="300" r:id="rId8"/>
    <p:sldId id="549" r:id="rId9"/>
    <p:sldId id="323" r:id="rId10"/>
    <p:sldId id="516" r:id="rId11"/>
    <p:sldId id="325" r:id="rId12"/>
    <p:sldId id="521" r:id="rId13"/>
    <p:sldId id="523" r:id="rId14"/>
    <p:sldId id="551" r:id="rId15"/>
    <p:sldId id="528" r:id="rId16"/>
    <p:sldId id="529" r:id="rId17"/>
    <p:sldId id="552" r:id="rId18"/>
    <p:sldId id="530" r:id="rId19"/>
    <p:sldId id="531" r:id="rId20"/>
    <p:sldId id="553" r:id="rId21"/>
    <p:sldId id="533" r:id="rId22"/>
    <p:sldId id="534" r:id="rId23"/>
    <p:sldId id="535" r:id="rId24"/>
    <p:sldId id="554" r:id="rId25"/>
    <p:sldId id="556" r:id="rId26"/>
    <p:sldId id="558" r:id="rId27"/>
    <p:sldId id="555" r:id="rId28"/>
    <p:sldId id="291" r:id="rId29"/>
    <p:sldId id="320" r:id="rId30"/>
    <p:sldId id="537" r:id="rId31"/>
    <p:sldId id="538" r:id="rId32"/>
    <p:sldId id="539" r:id="rId33"/>
    <p:sldId id="540" r:id="rId34"/>
    <p:sldId id="541" r:id="rId35"/>
    <p:sldId id="321" r:id="rId36"/>
    <p:sldId id="543" r:id="rId37"/>
    <p:sldId id="544" r:id="rId38"/>
    <p:sldId id="317" r:id="rId39"/>
    <p:sldId id="525" r:id="rId40"/>
    <p:sldId id="536" r:id="rId41"/>
    <p:sldId id="324" r:id="rId42"/>
    <p:sldId id="322" r:id="rId43"/>
    <p:sldId id="517" r:id="rId44"/>
    <p:sldId id="518" r:id="rId45"/>
  </p:sldIdLst>
  <p:sldSz cx="9144000" cy="6858000" type="screen4x3"/>
  <p:notesSz cx="6858000" cy="9144000"/>
  <p:embeddedFontLst>
    <p:embeddedFont>
      <p:font typeface="Kigelia" panose="020B0503040502020203" pitchFamily="34" charset="0"/>
      <p:regular r:id="rId47"/>
      <p:bold r:id="rId48"/>
      <p:italic r:id="rId49"/>
      <p:boldItalic r:id="rId50"/>
    </p:embeddedFont>
    <p:embeddedFont>
      <p:font typeface="Open Sans Light" panose="020B0306030504020204" pitchFamily="34" charset="0"/>
      <p:regular r:id="rId51"/>
      <p:bold r:id="rId52"/>
      <p:italic r:id="rId53"/>
      <p:boldItalic r:id="rId54"/>
    </p:embeddedFont>
    <p:embeddedFont>
      <p:font typeface="Univers Light" panose="020B0403020202020204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A89"/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314" autoAdjust="0"/>
  </p:normalViewPr>
  <p:slideViewPr>
    <p:cSldViewPr snapToGrid="0" snapToObjects="1">
      <p:cViewPr varScale="1">
        <p:scale>
          <a:sx n="53" d="100"/>
          <a:sy n="53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82" Type="http://customschemas.google.com/relationships/presentationmetadata" Target="meta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dirty="0"/>
              <a:t>Do introduction</a:t>
            </a: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 McGill initiative on Computational Medicine was formed in 2017 and aims to deliver inter-disciplinary research programs and empower the use of data in health research and health care delivery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Located at the Genome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They have a newsletter were you can subscribe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more info on the web 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797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8053FA7-715D-04CB-089F-E3F706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>
            <a:extLst>
              <a:ext uri="{FF2B5EF4-FFF2-40B4-BE49-F238E27FC236}">
                <a16:creationId xmlns:a16="http://schemas.microsoft.com/office/drawing/2014/main" id="{A9266901-2692-B801-B78A-B898BE956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>
            <a:extLst>
              <a:ext uri="{FF2B5EF4-FFF2-40B4-BE49-F238E27FC236}">
                <a16:creationId xmlns:a16="http://schemas.microsoft.com/office/drawing/2014/main" id="{1348B8F2-4E4C-525B-5663-DD47FAE51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>
            <a:extLst>
              <a:ext uri="{FF2B5EF4-FFF2-40B4-BE49-F238E27FC236}">
                <a16:creationId xmlns:a16="http://schemas.microsoft.com/office/drawing/2014/main" id="{35EA3F40-FF81-64A4-6FD0-F536D8178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88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8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To determine differentially expressed genes, we evaluate the </a:t>
            </a:r>
            <a:r>
              <a:rPr lang="en-CA" b="1" i="0" dirty="0">
                <a:solidFill>
                  <a:srgbClr val="24292F"/>
                </a:solidFill>
                <a:effectLst/>
                <a:latin typeface="-apple-system"/>
              </a:rPr>
              <a:t>variation of expression between groups (of interest) and compare that to the variation within the groups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 (</a:t>
            </a:r>
            <a:r>
              <a:rPr lang="en-CA" b="1" i="0" u="sng" dirty="0">
                <a:solidFill>
                  <a:srgbClr val="24292F"/>
                </a:solidFill>
                <a:effectLst/>
                <a:latin typeface="-apple-system"/>
              </a:rPr>
              <a:t>between replicates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843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9115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353025DA-616B-02AC-8943-C83D71A4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E8FF07AC-7C57-C2EE-2219-6995CDBEB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4778D889-A7D7-6EDC-EBCE-D7BD73412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18D5004D-6C61-63A8-F1D0-D8F0BACA2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155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19E1EF02-C099-D056-95E9-B2044729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56F6A90D-524E-E49C-E08F-139EEF75F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0603614B-0953-4F06-5863-BBFB56C14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B897392D-68CB-0913-EE2B-AF991BCD61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350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818D1CFA-9912-BE77-EE22-5D2E87A5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5101383-259A-3D6D-E75A-588D9168B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5860F19C-EEF2-8429-CF4C-BFB63C94E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92C09B02-ED1B-AE59-9E83-2B694C8040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512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D6F15A05-1E92-A33B-EF19-B80D2A6D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D06A55FE-2508-5E89-C0CA-0B38C8756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D5BE8607-0DA8-8ACF-EA0E-C85856422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A28A24FF-F43B-76D7-4A77-807678608A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1597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1102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53FD0D0-3CFF-EAF3-EE1E-423FD610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1CB62848-0F95-FC4E-3FAF-390561DA4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74C20157-7907-ECC4-8421-89E86C762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E973E16-4D33-64AC-51A6-FB6F1661EA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51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6A113E98-53DD-B1C1-452F-6C488293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E90F79B0-C069-F3C7-3AD4-9A246B039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1EE87AF-D40A-E7A5-E499-B92F76BDB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E92CCCF4-4049-D655-F81F-7467D0CCE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728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34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2AEFEAE7-581F-45A9-2637-853CE6E4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FDB85399-74E0-ACAB-B73B-2C7CC433C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DADA6E9C-8900-479E-F44A-2F325EBC6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66CFDC4F-B92B-8F97-A5D6-9591E83B7E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810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38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69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Both are GLM using NB to model counts</a:t>
            </a: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374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37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/>
        </p:nvSpPr>
        <p:spPr>
          <a:xfrm>
            <a:off x="594015" y="1617135"/>
            <a:ext cx="7804150" cy="486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r>
              <a:rPr lang="en-CA" sz="2002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CA"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aims to deliver inter-disciplinary research programs and empower the use of data in health research and health care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https://www.mcgill.ca/micm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47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642" y="2463795"/>
            <a:ext cx="4431523" cy="352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tem.2021.04.02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pantherdb.org/" TargetMode="External"/><Relationship Id="rId13" Type="http://schemas.openxmlformats.org/officeDocument/2006/relationships/image" Target="../media/image34.png"/><Relationship Id="rId3" Type="http://schemas.openxmlformats.org/officeDocument/2006/relationships/hyperlink" Target="https://www.gsea-msigdb.org/gsea/msigdb" TargetMode="External"/><Relationship Id="rId7" Type="http://schemas.openxmlformats.org/officeDocument/2006/relationships/hyperlink" Target="https://maayanlab.cloud/Enrichr/" TargetMode="Externa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ome.org/" TargetMode="External"/><Relationship Id="rId11" Type="http://schemas.openxmlformats.org/officeDocument/2006/relationships/image" Target="../media/image32.png"/><Relationship Id="rId5" Type="http://schemas.openxmlformats.org/officeDocument/2006/relationships/hyperlink" Target="https://www.genome.jp/kegg/" TargetMode="External"/><Relationship Id="rId10" Type="http://schemas.openxmlformats.org/officeDocument/2006/relationships/image" Target="../media/image31.png"/><Relationship Id="rId4" Type="http://schemas.openxmlformats.org/officeDocument/2006/relationships/hyperlink" Target="https://geneontology.org/" TargetMode="External"/><Relationship Id="rId9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Relationship Id="rId9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379613" y="1640111"/>
            <a:ext cx="83943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4800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Functional analysis and interpretation of RNA-seq data</a:t>
            </a:r>
            <a:endParaRPr sz="4800" i="0" strike="noStrike" cap="none" dirty="0">
              <a:solidFill>
                <a:srgbClr val="F51D3D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Mul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88072" y="3255297"/>
            <a:ext cx="49932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June 4th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, 2026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Ariel Madrigal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Arsham </a:t>
            </a:r>
            <a:r>
              <a:rPr lang="en-CA" sz="20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Mikaeili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 Namini</a:t>
            </a:r>
            <a:endParaRPr sz="20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6" name="Picture 5" descr="A red and blue logo&#10;&#10;AI-generated content may be incorrect.">
            <a:extLst>
              <a:ext uri="{FF2B5EF4-FFF2-40B4-BE49-F238E27FC236}">
                <a16:creationId xmlns:a16="http://schemas.microsoft.com/office/drawing/2014/main" id="{5D2370CE-06EA-B22D-19E3-EA1730C8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47" y="5517161"/>
            <a:ext cx="4056488" cy="886339"/>
          </a:xfrm>
          <a:prstGeom prst="rect">
            <a:avLst/>
          </a:prstGeom>
        </p:spPr>
      </p:pic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393E1-43D3-AEAC-3229-A1B82FE85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FFF87-CC09-5ED3-3790-99618B527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4" y="2168184"/>
            <a:ext cx="7352799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Experimental design and model specification using DESeq2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393433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420283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GSEA and ORA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340393"/>
            <a:ext cx="528600" cy="500100"/>
          </a:xfrm>
          <a:prstGeom prst="ellipse">
            <a:avLst/>
          </a:prstGeom>
          <a:solidFill>
            <a:srgbClr val="A04A8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85873" y="4330935"/>
            <a:ext cx="645043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400" dirty="0">
                <a:latin typeface="Univers Light" panose="020B0403020202020204" pitchFamily="34" charset="0"/>
              </a:rPr>
              <a:t>R</a:t>
            </a:r>
            <a:r>
              <a:rPr lang="en-CA" sz="2400" dirty="0" err="1">
                <a:latin typeface="Univers Light" panose="020B0403020202020204" pitchFamily="34" charset="0"/>
              </a:rPr>
              <a:t>esources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2" name="Google Shape;121;g19353f05b57_0_387">
            <a:extLst>
              <a:ext uri="{FF2B5EF4-FFF2-40B4-BE49-F238E27FC236}">
                <a16:creationId xmlns:a16="http://schemas.microsoft.com/office/drawing/2014/main" id="{5FB427BD-E812-0F3D-AED4-3C2EFA1175AB}"/>
              </a:ext>
            </a:extLst>
          </p:cNvPr>
          <p:cNvSpPr/>
          <p:nvPr/>
        </p:nvSpPr>
        <p:spPr>
          <a:xfrm>
            <a:off x="663346" y="5297187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sym typeface="Arial"/>
              </a:rPr>
              <a:t>4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122;g19353f05b57_0_387">
            <a:extLst>
              <a:ext uri="{FF2B5EF4-FFF2-40B4-BE49-F238E27FC236}">
                <a16:creationId xmlns:a16="http://schemas.microsoft.com/office/drawing/2014/main" id="{CB74704F-39F5-E719-5765-39C3A2E43BFF}"/>
              </a:ext>
            </a:extLst>
          </p:cNvPr>
          <p:cNvSpPr txBox="1"/>
          <p:nvPr/>
        </p:nvSpPr>
        <p:spPr>
          <a:xfrm>
            <a:off x="1291971" y="5324037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Concluding remarks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287315" y="1329444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Acknowledgements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8BE76-1CC0-054C-BD74-9B3D6CF3EB64}"/>
              </a:ext>
            </a:extLst>
          </p:cNvPr>
          <p:cNvSpPr txBox="1"/>
          <p:nvPr/>
        </p:nvSpPr>
        <p:spPr>
          <a:xfrm>
            <a:off x="801680" y="2264915"/>
            <a:ext cx="32616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Light" panose="020B0403020202020204" pitchFamily="34" charset="0"/>
              </a:rPr>
              <a:t>Material: 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Reinnier</a:t>
            </a:r>
            <a:r>
              <a:rPr lang="en-US" sz="2000" dirty="0">
                <a:latin typeface="Univers Light" panose="020B0403020202020204" pitchFamily="34" charset="0"/>
              </a:rPr>
              <a:t> Padilla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Adrien Osakwe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Exercises: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DESeq2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fgsea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Enrichr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Data: </a:t>
            </a:r>
          </a:p>
          <a:p>
            <a:r>
              <a:rPr lang="en-CA" sz="2000" dirty="0">
                <a:latin typeface="Univers Light" panose="020B0403020202020204" pitchFamily="34" charset="0"/>
                <a:hlinkClick r:id="rId3"/>
              </a:rPr>
              <a:t>Link</a:t>
            </a:r>
            <a:r>
              <a:rPr lang="en-CA" sz="2000" dirty="0">
                <a:latin typeface="Univers Light" panose="020B0403020202020204" pitchFamily="34" charset="0"/>
              </a:rPr>
              <a:t> </a:t>
            </a:r>
            <a:endParaRPr lang="en-US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03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0715B1-BEB1-1F92-B38E-E6FDD04C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>
            <a:extLst>
              <a:ext uri="{FF2B5EF4-FFF2-40B4-BE49-F238E27FC236}">
                <a16:creationId xmlns:a16="http://schemas.microsoft.com/office/drawing/2014/main" id="{183CCFD1-F518-4D1A-461C-3533B4979E60}"/>
              </a:ext>
            </a:extLst>
          </p:cNvPr>
          <p:cNvSpPr txBox="1"/>
          <p:nvPr/>
        </p:nvSpPr>
        <p:spPr>
          <a:xfrm>
            <a:off x="369600" y="1831508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A small recap…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A83B73-314E-3C4E-C9F9-6B6692B248AE}"/>
              </a:ext>
            </a:extLst>
          </p:cNvPr>
          <p:cNvSpPr/>
          <p:nvPr/>
        </p:nvSpPr>
        <p:spPr>
          <a:xfrm>
            <a:off x="586176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Quality control of FASTQ files</a:t>
            </a:r>
            <a:endParaRPr lang="en-CA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888910-9DCA-B245-E84C-77B3AC25428D}"/>
              </a:ext>
            </a:extLst>
          </p:cNvPr>
          <p:cNvSpPr/>
          <p:nvPr/>
        </p:nvSpPr>
        <p:spPr>
          <a:xfrm>
            <a:off x="2736292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Genome alignment</a:t>
            </a:r>
            <a:endParaRPr lang="en-CA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204F4-89AE-C01F-58ED-3C5407873CF1}"/>
              </a:ext>
            </a:extLst>
          </p:cNvPr>
          <p:cNvSpPr/>
          <p:nvPr/>
        </p:nvSpPr>
        <p:spPr>
          <a:xfrm>
            <a:off x="4886409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Read counting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21517-784C-27A0-D997-2D590BD0EE6B}"/>
              </a:ext>
            </a:extLst>
          </p:cNvPr>
          <p:cNvSpPr/>
          <p:nvPr/>
        </p:nvSpPr>
        <p:spPr>
          <a:xfrm>
            <a:off x="7036526" y="3060027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Differential expression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FBB45-0B4C-D0E1-DC5A-44464592D28E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973187" y="3603460"/>
            <a:ext cx="763105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4DD76E-C3FC-C990-EE32-7F643A033A7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123303" y="3603460"/>
            <a:ext cx="763106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945AA9-7571-940B-2CF5-6DE4CA351F9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273420" y="3603460"/>
            <a:ext cx="763106" cy="400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76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16F9-26A1-85FF-5837-5EA273CA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05E07220-515B-49D4-1239-A8755A1188A2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DESeq2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69262-F031-DC89-E7BA-C195BFCEDA07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54A85-E1F0-9933-A265-99D360652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48" y="2245186"/>
            <a:ext cx="7589903" cy="262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715F07-2252-AAC6-B92A-7377A19F69AE}"/>
              </a:ext>
            </a:extLst>
          </p:cNvPr>
          <p:cNvSpPr txBox="1"/>
          <p:nvPr/>
        </p:nvSpPr>
        <p:spPr>
          <a:xfrm>
            <a:off x="777048" y="5156504"/>
            <a:ext cx="3062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What does this all mean?</a:t>
            </a:r>
            <a:endParaRPr lang="en-CA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0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06031" y="127429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Model used in DESeq2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5" y="2618664"/>
            <a:ext cx="4867709" cy="1592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04349" y="2066545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DESeq2 models the counts using a negative binomial distribution</a:t>
            </a:r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8DFC0083-104A-72F8-96D3-F9C2988C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49" y="4266573"/>
            <a:ext cx="5155007" cy="22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86DC-D782-6506-40B1-EA193962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10" y="1498275"/>
            <a:ext cx="6006410" cy="3588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A22DBF-07CF-ACB3-7ABB-65769024D548}"/>
              </a:ext>
            </a:extLst>
          </p:cNvPr>
          <p:cNvSpPr txBox="1"/>
          <p:nvPr/>
        </p:nvSpPr>
        <p:spPr>
          <a:xfrm>
            <a:off x="1452010" y="5357624"/>
            <a:ext cx="3666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800" dirty="0">
                <a:latin typeface="Univers Light" panose="020B0403020202020204" pitchFamily="34" charset="0"/>
              </a:rPr>
              <a:t>Replication introduces 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159F4-3AFE-9BEA-E1E9-1BDF0D474780}"/>
              </a:ext>
            </a:extLst>
          </p:cNvPr>
          <p:cNvSpPr txBox="1"/>
          <p:nvPr/>
        </p:nvSpPr>
        <p:spPr>
          <a:xfrm>
            <a:off x="3481330" y="6206257"/>
            <a:ext cx="533954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latin typeface="Univers Light" panose="020B0403020202020204" pitchFamily="34" charset="0"/>
              </a:rPr>
              <a:t>Adapted from: https://</a:t>
            </a:r>
            <a:r>
              <a:rPr lang="en-US" sz="788" dirty="0" err="1">
                <a:latin typeface="Univers Light" panose="020B0403020202020204" pitchFamily="34" charset="0"/>
              </a:rPr>
              <a:t>hbctraining.github.io</a:t>
            </a:r>
            <a:r>
              <a:rPr lang="en-US" sz="788" dirty="0">
                <a:latin typeface="Univers Light" panose="020B0403020202020204" pitchFamily="34" charset="0"/>
              </a:rPr>
              <a:t>/</a:t>
            </a:r>
            <a:r>
              <a:rPr lang="en-US" sz="788" dirty="0" err="1">
                <a:latin typeface="Univers Light" panose="020B0403020202020204" pitchFamily="34" charset="0"/>
              </a:rPr>
              <a:t>DGE_workshop_salmon_online</a:t>
            </a:r>
            <a:r>
              <a:rPr lang="en-US" sz="788" dirty="0">
                <a:latin typeface="Univers Light" panose="020B0403020202020204" pitchFamily="34" charset="0"/>
              </a:rPr>
              <a:t>/schedule/links-to-</a:t>
            </a:r>
            <a:r>
              <a:rPr lang="en-US" sz="788" dirty="0" err="1">
                <a:latin typeface="Univers Light" panose="020B0403020202020204" pitchFamily="34" charset="0"/>
              </a:rPr>
              <a:t>lessons.html</a:t>
            </a:r>
            <a:endParaRPr lang="en-US" sz="788" dirty="0">
              <a:latin typeface="Univers Light" panose="020B0403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B4057F-0BEB-38D7-9EB3-DA65530D2FDA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2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What is dispersion?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15004" b="72332"/>
          <a:stretch/>
        </p:blipFill>
        <p:spPr>
          <a:xfrm>
            <a:off x="585216" y="2585302"/>
            <a:ext cx="4903724" cy="522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77697" y="2013516"/>
            <a:ext cx="797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Within-group variability (the variability between replicates), is modeled by the dispersion parameter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D1D89-9189-584D-8C55-B314C40516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33" b="12103"/>
          <a:stretch/>
        </p:blipFill>
        <p:spPr>
          <a:xfrm>
            <a:off x="684368" y="3429000"/>
            <a:ext cx="2679193" cy="449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23149-80D6-B344-9A56-718BF3CA1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995" y="3068553"/>
            <a:ext cx="3014892" cy="1801324"/>
          </a:xfrm>
          <a:prstGeom prst="rect">
            <a:avLst/>
          </a:prstGeom>
        </p:spPr>
      </p:pic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3B1503D2-14D6-716B-4206-0E567AFFBC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3380"/>
          <a:stretch>
            <a:fillRect/>
          </a:stretch>
        </p:blipFill>
        <p:spPr>
          <a:xfrm>
            <a:off x="477697" y="5244273"/>
            <a:ext cx="5155007" cy="8228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B19ADA-D1A0-47A8-BD38-6861F6B770BC}"/>
              </a:ext>
            </a:extLst>
          </p:cNvPr>
          <p:cNvSpPr/>
          <p:nvPr/>
        </p:nvSpPr>
        <p:spPr>
          <a:xfrm>
            <a:off x="2750639" y="3465244"/>
            <a:ext cx="286439" cy="376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37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Wald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C6C32-394C-8D48-8764-C1B2FDAB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81" y="2782244"/>
            <a:ext cx="2599642" cy="1771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DC1C22-3222-10F5-80C5-AF7FB178FCF4}"/>
              </a:ext>
            </a:extLst>
          </p:cNvPr>
          <p:cNvSpPr txBox="1"/>
          <p:nvPr/>
        </p:nvSpPr>
        <p:spPr>
          <a:xfrm>
            <a:off x="3778301" y="2900753"/>
            <a:ext cx="511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We can assume the log fold change under the null hypothesis to be distributed normally with mean zero and variance that depends on the standard error.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r>
              <a:rPr lang="en-US" sz="1800" dirty="0">
                <a:latin typeface="Univers Light" panose="020B0403020202020204" pitchFamily="34" charset="0"/>
              </a:rPr>
              <a:t>From there, we can compute a two-sided p-value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B11E1-40A7-D75B-C5B8-A3A3DD11A1C7}"/>
              </a:ext>
            </a:extLst>
          </p:cNvPr>
          <p:cNvSpPr/>
          <p:nvPr/>
        </p:nvSpPr>
        <p:spPr>
          <a:xfrm>
            <a:off x="2200801" y="2878647"/>
            <a:ext cx="882898" cy="739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4102C-6207-701B-201F-9D4C2224FC5D}"/>
              </a:ext>
            </a:extLst>
          </p:cNvPr>
          <p:cNvSpPr txBox="1"/>
          <p:nvPr/>
        </p:nvSpPr>
        <p:spPr>
          <a:xfrm>
            <a:off x="720481" y="2463805"/>
            <a:ext cx="3207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Log2 Fold Change in gene expression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4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graphs showing different types of numbers&#10;&#10;AI-generated content may be incorrect.">
            <a:extLst>
              <a:ext uri="{FF2B5EF4-FFF2-40B4-BE49-F238E27FC236}">
                <a16:creationId xmlns:a16="http://schemas.microsoft.com/office/drawing/2014/main" id="{F4BF1172-D254-C5DF-998C-34C10E0CA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6" y="1182332"/>
            <a:ext cx="4850686" cy="5292339"/>
          </a:xfrm>
          <a:prstGeom prst="rect">
            <a:avLst/>
          </a:prstGeom>
        </p:spPr>
      </p:pic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8672DFA-5F9E-7B1B-B8B0-BA340769F112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Log-fold shrinkage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5A50F-BAC5-B3CE-0F1C-8CBF6E6B12E0}"/>
              </a:ext>
            </a:extLst>
          </p:cNvPr>
          <p:cNvSpPr txBox="1"/>
          <p:nvPr/>
        </p:nvSpPr>
        <p:spPr>
          <a:xfrm>
            <a:off x="5653793" y="6166894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A7AFB-2467-5F77-ABBF-F9ACDA3486D0}"/>
              </a:ext>
            </a:extLst>
          </p:cNvPr>
          <p:cNvSpPr txBox="1"/>
          <p:nvPr/>
        </p:nvSpPr>
        <p:spPr>
          <a:xfrm>
            <a:off x="5568232" y="1827443"/>
            <a:ext cx="3198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Shrinkage of FC addresses two issues: 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Log-fold changes are noisier when counts are low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Genes with high dispersion should be less reliable</a:t>
            </a:r>
          </a:p>
        </p:txBody>
      </p:sp>
    </p:spTree>
    <p:extLst>
      <p:ext uri="{BB962C8B-B14F-4D97-AF65-F5344CB8AC3E}">
        <p14:creationId xmlns:p14="http://schemas.microsoft.com/office/powerpoint/2010/main" val="2591259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16660B08-8F2A-5E20-8E36-4B152B0B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650260BD-BA04-DB3E-4054-2FE226DB2358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AF04F-4ABD-DE29-458E-C3E4D6BADDF7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437807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5F7E-270B-E5C7-3CA1-5FD8ABB9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57C6EC4-F7A5-039C-D5C1-642179B9F781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Models for covariate and factor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00F1C-080F-9D97-FB4A-F2F35B71A6C4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9B94C0C-1354-932F-0463-2AA8E185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5" y="1280119"/>
            <a:ext cx="7562223" cy="44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7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19C7-5FB1-3D62-3890-5AA4905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242A2D43-28AD-4B5C-2774-7D6E3629C51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Design and contrast matrices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27B75-27F6-59DD-17CB-C64774C15577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comparison of a model parameters&#10;&#10;AI-generated content may be incorrect.">
            <a:extLst>
              <a:ext uri="{FF2B5EF4-FFF2-40B4-BE49-F238E27FC236}">
                <a16:creationId xmlns:a16="http://schemas.microsoft.com/office/drawing/2014/main" id="{7713F781-B48F-67D6-B9E4-27C76758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19" y="1945626"/>
            <a:ext cx="7125320" cy="30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CF81B407-0693-4C65-E09F-05AD7F14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D0475451-6F5D-E0EB-993E-5AAECDA419DA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65281-375C-ED05-99B7-AE6958329816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63114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D7F6-33D7-A62F-D5F9-C89A523E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01B8172-5DC3-0D02-8880-5E10D4040C6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6670F-F186-CF49-FE87-4F4C191D79C3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04D25-1D17-58C9-0036-8FCF73E05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01" y="1639971"/>
            <a:ext cx="6750397" cy="4184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C61F4F-F7CE-4C6A-B0CF-9834FEC7B455}"/>
              </a:ext>
            </a:extLst>
          </p:cNvPr>
          <p:cNvSpPr txBox="1"/>
          <p:nvPr/>
        </p:nvSpPr>
        <p:spPr>
          <a:xfrm>
            <a:off x="503216" y="1225478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59EFB7-99EA-5527-80AF-07DF48CD5E5B}"/>
              </a:ext>
            </a:extLst>
          </p:cNvPr>
          <p:cNvSpPr/>
          <p:nvPr/>
        </p:nvSpPr>
        <p:spPr>
          <a:xfrm>
            <a:off x="1948135" y="2517699"/>
            <a:ext cx="422083" cy="43003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E2038-B353-7ACB-4BBB-A735EFD3B22A}"/>
              </a:ext>
            </a:extLst>
          </p:cNvPr>
          <p:cNvSpPr/>
          <p:nvPr/>
        </p:nvSpPr>
        <p:spPr>
          <a:xfrm>
            <a:off x="2521635" y="2501652"/>
            <a:ext cx="422083" cy="43003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30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F13A-605A-F628-7BF9-71EE39CC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75055502-8715-F022-6DD0-3004F79D0266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(excluding intercept)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4E145-2B3B-DC9E-C2F7-2E7C86FF47FD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3F9D41-9E16-2982-6C42-ABE47110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80" y="1975679"/>
            <a:ext cx="6617040" cy="4191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5661B5-8044-4A1F-38BD-80692B5A7F9E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23C9C-712C-1137-D141-6B0B29891EF5}"/>
              </a:ext>
            </a:extLst>
          </p:cNvPr>
          <p:cNvSpPr txBox="1"/>
          <p:nvPr/>
        </p:nvSpPr>
        <p:spPr>
          <a:xfrm>
            <a:off x="3224463" y="1829265"/>
            <a:ext cx="4423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contrast will be needed to extract the actual log2FC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6B2BA204-1706-0B15-313B-901089DB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2EC3C768-C8DE-10F6-42BA-D6C4819AEC86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1C20B6-93FD-1547-82E4-AB60318484AE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80695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5525-0C45-3339-6147-AF423A15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561103CA-5731-9D16-A97B-EBED0C6C6D8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An interaction model captures a synergistic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746E6-7CA5-231D-EA86-25783AA74F29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73C0A-1ECE-BFF2-16E5-EEC984CA625A}"/>
              </a:ext>
            </a:extLst>
          </p:cNvPr>
          <p:cNvSpPr txBox="1"/>
          <p:nvPr/>
        </p:nvSpPr>
        <p:spPr>
          <a:xfrm>
            <a:off x="638299" y="5675692"/>
            <a:ext cx="4601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</a:t>
            </a:r>
            <a:r>
              <a:rPr lang="en-US" sz="1800" b="0" i="0" dirty="0">
                <a:solidFill>
                  <a:srgbClr val="001D35"/>
                </a:solidFill>
                <a:effectLst/>
                <a:latin typeface="Univers Light" panose="020B0403020202020204" pitchFamily="34" charset="0"/>
              </a:rPr>
              <a:t>ne plus one is greater than two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A9D92-77D6-D09A-4B23-00B522EB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22" y="1722127"/>
            <a:ext cx="5912154" cy="3968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39A1B1-C831-5A8A-91A0-8E399EF62DC7}"/>
              </a:ext>
            </a:extLst>
          </p:cNvPr>
          <p:cNvSpPr txBox="1"/>
          <p:nvPr/>
        </p:nvSpPr>
        <p:spPr>
          <a:xfrm>
            <a:off x="282039" y="1490054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treat1 * treat2</a:t>
            </a:r>
            <a:r>
              <a:rPr lang="en-US" sz="1800" dirty="0">
                <a:solidFill>
                  <a:srgbClr val="FF0000"/>
                </a:solidFill>
                <a:latin typeface="Univers Light" panose="020B0403020202020204" pitchFamily="34" charset="0"/>
              </a:rPr>
              <a:t> equivalent </a:t>
            </a:r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to ~ treat1 + treat2 + treat1:treat2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907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0657-1651-2468-5628-53626EC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0907908-BB12-F246-7D2A-F2BEB5BE62B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1372B-B004-319E-28C1-A129E989E20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702416-1583-2718-774A-F8747D34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36" y="1931905"/>
            <a:ext cx="5755592" cy="359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01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CFE6-9FFA-E76C-96EF-70CFE024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6E6A5804-25F7-D88E-92FF-47B608884977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D5AA5-EE33-D9BD-B018-9D2F78D57E7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B6206-5FFD-EF8B-587B-6D9BFAA5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67" y="1969492"/>
            <a:ext cx="6018663" cy="4128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F20FE5-B682-7523-24F0-3593558B506B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21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8715E038-9C49-D659-4254-04999788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0FB51958-4E0C-8C0E-3EB2-45E61F1E0F07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3F3038-D6B8-7B73-C5BB-0D0AC2BDCF6A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629826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095E-9555-0981-77B7-A757A341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5D7868A5-75BE-49EE-DEF4-A76DF9C92B20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Batch effects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957D7-68F7-14B0-0B51-15177DE578A1}"/>
              </a:ext>
            </a:extLst>
          </p:cNvPr>
          <p:cNvSpPr txBox="1"/>
          <p:nvPr/>
        </p:nvSpPr>
        <p:spPr>
          <a:xfrm>
            <a:off x="4152548" y="5963216"/>
            <a:ext cx="4737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Zhang, Y.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NAR Genomics and Bioinformatics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86E97-2015-3DE0-3EC5-9676BA9F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37" y="1984990"/>
            <a:ext cx="4292821" cy="3695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438579-C8AA-3189-875E-C906C114A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375" y="1984990"/>
            <a:ext cx="1187511" cy="35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58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F9A6-FB80-1E80-B071-6F75505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BC37E2FD-D529-5FE3-1B1A-847AC8C4CC7F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Batch effect removal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B2660-311E-1ABD-7D79-2B7C53BAA3CF}"/>
              </a:ext>
            </a:extLst>
          </p:cNvPr>
          <p:cNvSpPr txBox="1"/>
          <p:nvPr/>
        </p:nvSpPr>
        <p:spPr>
          <a:xfrm>
            <a:off x="4152548" y="5963216"/>
            <a:ext cx="4737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Zhang, Y.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NAR Genomics and Bioinformatics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32991-7086-4169-BBD6-26456FBC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8" y="2367783"/>
            <a:ext cx="3137293" cy="2701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8419A5-C11F-5416-AC81-331FA79F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341" y="1984990"/>
            <a:ext cx="1187511" cy="35307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DD3497-F5EF-056D-F6AA-84E7A0DA0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229" y="2367783"/>
            <a:ext cx="3137293" cy="28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2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0A15-F8A3-2DAC-4AD5-F9590759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DA593E2-4AC0-950A-BAB7-044C77AD0926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DESeq2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530C7-1DFA-7217-EC62-42EEBB8FC60C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8EF0E-C5EA-1E60-4D33-580D8C7F4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48" y="2414432"/>
            <a:ext cx="7589903" cy="262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2A3ABE-D269-B9A9-85C8-DF8DF0E4CD07}"/>
              </a:ext>
            </a:extLst>
          </p:cNvPr>
          <p:cNvSpPr txBox="1"/>
          <p:nvPr/>
        </p:nvSpPr>
        <p:spPr>
          <a:xfrm>
            <a:off x="5369433" y="1869485"/>
            <a:ext cx="3719413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The log2 fold change depends on the design that we use and the contrast (if any)</a:t>
            </a:r>
            <a:endParaRPr lang="en-CA" sz="2000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149FB5-3A07-6D83-7886-2F2E082068C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668253" y="2377317"/>
            <a:ext cx="701180" cy="16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3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1</a:t>
            </a:r>
            <a:endParaRPr sz="4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1808002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B08E-2E0C-5E04-848B-C3099B8C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7F7C747-B9DF-1309-097F-DFA4C41B953F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Set Enrichment Analysis (GSEA)</a:t>
            </a:r>
          </a:p>
        </p:txBody>
      </p:sp>
      <p:pic>
        <p:nvPicPr>
          <p:cNvPr id="4" name="Picture 3" descr="A diagram of a gene set&#10;&#10;AI-generated content may be incorrect.">
            <a:extLst>
              <a:ext uri="{FF2B5EF4-FFF2-40B4-BE49-F238E27FC236}">
                <a16:creationId xmlns:a16="http://schemas.microsoft.com/office/drawing/2014/main" id="{DA2664F5-95FE-346E-08E8-5BCAC376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48" y="1533933"/>
            <a:ext cx="7014474" cy="3790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CAD25-BD24-DC3C-2259-CFC11FC13C0B}"/>
              </a:ext>
            </a:extLst>
          </p:cNvPr>
          <p:cNvSpPr txBox="1"/>
          <p:nvPr/>
        </p:nvSpPr>
        <p:spPr>
          <a:xfrm>
            <a:off x="5653793" y="6166894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Subramanian, A.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(2005) </a:t>
            </a:r>
            <a:r>
              <a:rPr lang="en-US" i="1" dirty="0">
                <a:latin typeface="Univers Light" panose="020B0403020202020204" pitchFamily="34" charset="0"/>
              </a:rPr>
              <a:t>PNAS</a:t>
            </a:r>
          </a:p>
        </p:txBody>
      </p:sp>
    </p:spTree>
    <p:extLst>
      <p:ext uri="{BB962C8B-B14F-4D97-AF65-F5344CB8AC3E}">
        <p14:creationId xmlns:p14="http://schemas.microsoft.com/office/powerpoint/2010/main" val="3244961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C7A7DC67-ABE9-5474-D5D9-7BE4320D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6E0FDEF1-60BB-919B-290B-DE348A1C6C4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AD5FD-0517-9867-054A-A9800D6C87B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738749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60F5-A238-40B9-AEF7-48394F15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E6C56A5-721E-0349-CE6A-C29A2ED1A65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 err="1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Enrichr</a:t>
            </a:r>
            <a:endParaRPr lang="en-CA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pic>
        <p:nvPicPr>
          <p:cNvPr id="5" name="Picture 4" descr="A black and red text&#10;&#10;AI-generated content may be incorrect.">
            <a:extLst>
              <a:ext uri="{FF2B5EF4-FFF2-40B4-BE49-F238E27FC236}">
                <a16:creationId xmlns:a16="http://schemas.microsoft.com/office/drawing/2014/main" id="{635281F8-B714-62F0-C77A-54AA7A1F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843" y="912854"/>
            <a:ext cx="3778444" cy="768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A3081-5C0A-9930-D680-E1E9D3A1234A}"/>
              </a:ext>
            </a:extLst>
          </p:cNvPr>
          <p:cNvSpPr txBox="1"/>
          <p:nvPr/>
        </p:nvSpPr>
        <p:spPr>
          <a:xfrm>
            <a:off x="6348499" y="4055740"/>
            <a:ext cx="3270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P-value comes from a hypergeometric test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12CFE-0659-2987-6C1F-6FED347E93DD}"/>
              </a:ext>
            </a:extLst>
          </p:cNvPr>
          <p:cNvSpPr txBox="1"/>
          <p:nvPr/>
        </p:nvSpPr>
        <p:spPr>
          <a:xfrm>
            <a:off x="5653793" y="6166894"/>
            <a:ext cx="3451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Chen E.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(2013) </a:t>
            </a:r>
            <a:r>
              <a:rPr lang="en-US" i="1" dirty="0">
                <a:latin typeface="Univers Light" panose="020B0403020202020204" pitchFamily="34" charset="0"/>
              </a:rPr>
              <a:t>BMC Bioinformatics</a:t>
            </a:r>
          </a:p>
        </p:txBody>
      </p:sp>
      <p:pic>
        <p:nvPicPr>
          <p:cNvPr id="11" name="Picture 10" descr="A mathematical symbols and symbols&#10;&#10;AI-generated content may be incorrect.">
            <a:extLst>
              <a:ext uri="{FF2B5EF4-FFF2-40B4-BE49-F238E27FC236}">
                <a16:creationId xmlns:a16="http://schemas.microsoft.com/office/drawing/2014/main" id="{4F965D97-FD10-1A32-DD1F-82C072C1F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793" y="4706920"/>
            <a:ext cx="3036976" cy="1209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902D0D-06B4-57D3-CF47-76DD1B3A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92" y="1807745"/>
            <a:ext cx="6424006" cy="1909232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765D25C-A70D-1D33-614C-6FC0CD7B0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40" y="4141356"/>
            <a:ext cx="5171722" cy="137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6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DF89EB41-B371-99CE-2B7B-07DA7C10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D97A9FD5-8EE8-362E-68E9-BD7021A88C6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8BA92-1ABC-8311-7661-FD2465C10D65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606957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3A90-5075-21E3-3F9F-1F5B6157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93DD75B-CA7D-E9FB-C84A-0D379700149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When to use GSEA or ORA?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4ACAA-E2D0-656D-18B6-A46AA8451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918542"/>
              </p:ext>
            </p:extLst>
          </p:nvPr>
        </p:nvGraphicFramePr>
        <p:xfrm>
          <a:off x="505002" y="1524693"/>
          <a:ext cx="7715394" cy="21863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Ranked list of all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Significant gene list +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Hypergeometric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Running-sum enrichment score + permutation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Uses cutoff?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Yes (DE)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D00F3D-8A16-ED7B-A9C4-3F557DAE8761}"/>
              </a:ext>
            </a:extLst>
          </p:cNvPr>
          <p:cNvSpPr txBox="1"/>
          <p:nvPr/>
        </p:nvSpPr>
        <p:spPr>
          <a:xfrm>
            <a:off x="294483" y="4132978"/>
            <a:ext cx="8555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ORA asks: Are my DE genes enriched in this pathway?</a:t>
            </a:r>
          </a:p>
          <a:p>
            <a:endParaRPr lang="en-US" sz="18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GSEA asks: Are genes from this pathway enriched towards the top or bottom of the ranked list?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62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2</a:t>
            </a:r>
            <a:endParaRPr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592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9F1F5C5D-AE02-4278-1D07-9765B8B19C2E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3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Resources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FE091-59A5-E8E0-4CCB-F750C4B6DD01}"/>
              </a:ext>
            </a:extLst>
          </p:cNvPr>
          <p:cNvSpPr txBox="1"/>
          <p:nvPr/>
        </p:nvSpPr>
        <p:spPr>
          <a:xfrm>
            <a:off x="823531" y="2626211"/>
            <a:ext cx="731584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3"/>
              </a:rPr>
              <a:t>MsigDB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4"/>
              </a:rPr>
              <a:t>Gene Ontology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5"/>
              </a:rPr>
              <a:t>KEGG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6"/>
              </a:rPr>
              <a:t>Reactome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7"/>
              </a:rPr>
              <a:t>Enrichr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8"/>
              </a:rPr>
              <a:t>Panther</a:t>
            </a:r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</a:rPr>
              <a:t>  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E602B-B97E-32BF-AB2B-4B029A4DE3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8349" y="1932677"/>
            <a:ext cx="3092609" cy="1066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D309F-9D55-6F48-FAAA-AE251E47B0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6536" y="3486085"/>
            <a:ext cx="2438525" cy="806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C4C9B-A141-D0F7-E924-59FDF2373B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2480" y="4286373"/>
            <a:ext cx="1759040" cy="1263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551B40-ABF9-59AC-8B6D-0EA5527604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4996" y="4592789"/>
            <a:ext cx="3196147" cy="786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C93EBF-4623-894E-7521-96DB2F7261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6437" y="2127615"/>
            <a:ext cx="2789339" cy="6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AA1E978-2835-F3A2-B77B-22BD2615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2648CC4A-9233-371B-FDFF-F57641385DED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4: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Concluding remarks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1A842-253E-A8A4-3846-0A9DE48435AC}"/>
              </a:ext>
            </a:extLst>
          </p:cNvPr>
          <p:cNvSpPr txBox="1"/>
          <p:nvPr/>
        </p:nvSpPr>
        <p:spPr>
          <a:xfrm>
            <a:off x="672432" y="2379989"/>
            <a:ext cx="761803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Now you are ready to: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Perform a standard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DGE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,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GSEA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 and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ORA 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analyses</a:t>
            </a:r>
            <a:endParaRPr lang="en-US" sz="2000" b="1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Modify design matrices to address biological questions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Choose between GSEA and ORA depending on the question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86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730" y="1636294"/>
            <a:ext cx="3774668" cy="1383957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274597" y="1807055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487975" y="3168533"/>
            <a:ext cx="840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6212119" y="30836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6A3B8504-9266-0CF6-E688-66AB70A041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447" y="5517161"/>
            <a:ext cx="4056488" cy="886339"/>
          </a:xfrm>
          <a:prstGeom prst="rect">
            <a:avLst/>
          </a:prstGeom>
        </p:spPr>
      </p:pic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67FB2-330F-8BC8-5F8B-6202992C7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418F-B043-9104-198C-160E50DB7B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Love, M., Anders, S., &amp; Huber, W. (2014). Differential analysis of count data–the DESeq2 package. </a:t>
            </a:r>
            <a:r>
              <a:rPr lang="en-US" i="1" dirty="0"/>
              <a:t>Genome Biol</a:t>
            </a:r>
            <a:r>
              <a:rPr lang="en-US" dirty="0"/>
              <a:t>, </a:t>
            </a:r>
            <a:r>
              <a:rPr lang="en-US" i="1" dirty="0"/>
              <a:t>15</a:t>
            </a:r>
            <a:r>
              <a:rPr lang="en-US" dirty="0"/>
              <a:t>(550), 10-1186.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Subramanian, A., Kuehn, H., Gould, J., Tamayo, P., &amp; </a:t>
            </a:r>
            <a:r>
              <a:rPr lang="en-CA" dirty="0" err="1"/>
              <a:t>Mesirov</a:t>
            </a:r>
            <a:r>
              <a:rPr lang="en-CA" dirty="0"/>
              <a:t>, J. P. (2007). GSEA-P: a desktop application for Gene Set Enrichment Analysis. </a:t>
            </a:r>
            <a:r>
              <a:rPr lang="en-CA" i="1" dirty="0"/>
              <a:t>Bioinformatics</a:t>
            </a:r>
            <a:r>
              <a:rPr lang="en-CA" dirty="0"/>
              <a:t>, </a:t>
            </a:r>
            <a:r>
              <a:rPr lang="en-CA" i="1" dirty="0"/>
              <a:t>23</a:t>
            </a:r>
            <a:r>
              <a:rPr lang="en-CA" dirty="0"/>
              <a:t>(23), 3251-3253.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Chen, E. Y., Tan, C. M., Kou, Y., Duan, Q., Wang, Z., Meirelles, G. V., ... &amp; Ma’ayan, A. (2013). </a:t>
            </a:r>
            <a:r>
              <a:rPr lang="en-CA" dirty="0" err="1"/>
              <a:t>Enrichr</a:t>
            </a:r>
            <a:r>
              <a:rPr lang="en-CA" dirty="0"/>
              <a:t>: interactive and collaborative HTML5 gene list enrichment analysis tool. </a:t>
            </a:r>
            <a:r>
              <a:rPr lang="en-CA" i="1" dirty="0"/>
              <a:t>BMC bioinformatics</a:t>
            </a:r>
            <a:r>
              <a:rPr lang="en-CA" dirty="0"/>
              <a:t>, </a:t>
            </a:r>
            <a:r>
              <a:rPr lang="en-CA" i="1" dirty="0"/>
              <a:t>14</a:t>
            </a:r>
            <a:r>
              <a:rPr lang="en-CA" dirty="0"/>
              <a:t>(1), 128.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Law, C. W., </a:t>
            </a:r>
            <a:r>
              <a:rPr lang="en-US" dirty="0" err="1"/>
              <a:t>Zeglinski</a:t>
            </a:r>
            <a:r>
              <a:rPr lang="en-US" dirty="0"/>
              <a:t>, K., Dong, X., </a:t>
            </a:r>
            <a:r>
              <a:rPr lang="en-US" dirty="0" err="1"/>
              <a:t>Alhamdoosh</a:t>
            </a:r>
            <a:r>
              <a:rPr lang="en-US" dirty="0"/>
              <a:t>, M., Smyth, G. K., &amp; Ritchie, M. E. (2020). A guide to creating design matrices for gene expression experiments. </a:t>
            </a:r>
            <a:r>
              <a:rPr lang="en-US" i="1" dirty="0"/>
              <a:t>F1000Research</a:t>
            </a:r>
            <a:r>
              <a:rPr lang="en-US" dirty="0"/>
              <a:t>, </a:t>
            </a:r>
            <a:r>
              <a:rPr lang="en-US" i="1" dirty="0"/>
              <a:t>9</a:t>
            </a:r>
            <a:r>
              <a:rPr lang="en-US" dirty="0"/>
              <a:t>, 1444.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714C-CCF0-BE17-FE96-4A14B410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0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34984" y="1218447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Normalization in DESeq2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AE22E-A6F6-4744-92DA-BA4C3A243151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55F08-956C-6A42-AA9C-E34F851A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4" y="2628291"/>
            <a:ext cx="1536700" cy="60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663930-15B0-DA42-9ED9-D9B3F759199C}"/>
              </a:ext>
            </a:extLst>
          </p:cNvPr>
          <p:cNvSpPr txBox="1"/>
          <p:nvPr/>
        </p:nvSpPr>
        <p:spPr>
          <a:xfrm>
            <a:off x="370181" y="204958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Median of ratios</a:t>
            </a:r>
          </a:p>
        </p:txBody>
      </p:sp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474A5C6F-7623-BA4B-2E95-6DE31F829B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578"/>
          <a:stretch>
            <a:fillRect/>
          </a:stretch>
        </p:blipFill>
        <p:spPr>
          <a:xfrm>
            <a:off x="370181" y="4762493"/>
            <a:ext cx="5155007" cy="1672297"/>
          </a:xfrm>
          <a:prstGeom prst="rect">
            <a:avLst/>
          </a:prstGeom>
        </p:spPr>
      </p:pic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2440E7C9-0267-8834-78CF-823C909B6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94" y="3096282"/>
            <a:ext cx="5694511" cy="13016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8108A0-3B57-005F-3FA4-33DC38DDA77C}"/>
              </a:ext>
            </a:extLst>
          </p:cNvPr>
          <p:cNvSpPr/>
          <p:nvPr/>
        </p:nvSpPr>
        <p:spPr>
          <a:xfrm>
            <a:off x="3723701" y="3096282"/>
            <a:ext cx="2423711" cy="130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78313-E52C-D9DC-0D77-B30475668261}"/>
              </a:ext>
            </a:extLst>
          </p:cNvPr>
          <p:cNvSpPr txBox="1"/>
          <p:nvPr/>
        </p:nvSpPr>
        <p:spPr>
          <a:xfrm>
            <a:off x="6122752" y="439316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Geometric mean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C8F6D-02D3-E360-17CF-DA5DF19A8B27}"/>
              </a:ext>
            </a:extLst>
          </p:cNvPr>
          <p:cNvSpPr/>
          <p:nvPr/>
        </p:nvSpPr>
        <p:spPr>
          <a:xfrm>
            <a:off x="1406244" y="2697981"/>
            <a:ext cx="315054" cy="3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D57D0-8EA8-BE55-9EB3-0E18D8FE50E6}"/>
              </a:ext>
            </a:extLst>
          </p:cNvPr>
          <p:cNvSpPr txBox="1"/>
          <p:nvPr/>
        </p:nvSpPr>
        <p:spPr>
          <a:xfrm>
            <a:off x="955007" y="30962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Size factor</a:t>
            </a:r>
          </a:p>
        </p:txBody>
      </p:sp>
    </p:spTree>
    <p:extLst>
      <p:ext uri="{BB962C8B-B14F-4D97-AF65-F5344CB8AC3E}">
        <p14:creationId xmlns:p14="http://schemas.microsoft.com/office/powerpoint/2010/main" val="1219959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28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Statistical modelling concepts used in DESeq2 and its differences with respect to </a:t>
            </a:r>
            <a:r>
              <a:rPr lang="en-CA" sz="2800" dirty="0" err="1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edgeR</a:t>
            </a:r>
            <a:endParaRPr lang="en-CA" sz="2800" dirty="0">
              <a:latin typeface="Kigelia" panose="020B0502040204020203" pitchFamily="34" charset="0"/>
              <a:ea typeface="Kigelia" panose="020B0502040204020203" pitchFamily="34" charset="0"/>
              <a:cs typeface="Kigelia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8522B0-CCB7-9344-BD1C-D22EF6D68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124232"/>
              </p:ext>
            </p:extLst>
          </p:nvPr>
        </p:nvGraphicFramePr>
        <p:xfrm>
          <a:off x="443031" y="2807229"/>
          <a:ext cx="7715394" cy="274285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Univers Light" panose="020B0403020202020204" pitchFamily="34" charset="0"/>
                        </a:rPr>
                        <a:t>edgeR</a:t>
                      </a:r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DESeq2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Negative Binomial dispersions capture global trend, quasi-dispersions account for gene-specific variability.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Gene-specific dispersion shrunken towards the trend using a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Median of ratios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Quasi-likelihood F-tests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Wald-tests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37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5B27E5-1B21-79D6-DF58-7DC4D0A32438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40D7D-1716-03AC-D5C3-3C4266D06B25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 descr="A graph showing a number of points&#10;&#10;AI-generated content may be incorrect.">
            <a:extLst>
              <a:ext uri="{FF2B5EF4-FFF2-40B4-BE49-F238E27FC236}">
                <a16:creationId xmlns:a16="http://schemas.microsoft.com/office/drawing/2014/main" id="{56DE0DF8-97C7-C991-34F8-34F21EA1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42" y="1126205"/>
            <a:ext cx="4519011" cy="48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88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Shrinkage estimation of dispersion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3881078" y="6096273"/>
            <a:ext cx="4968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Fig 1A, adapted from: 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047242-4011-EC44-95D1-1E1F9AC2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83" y="1984990"/>
            <a:ext cx="4003434" cy="40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207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1373</Words>
  <Application>Microsoft Office PowerPoint</Application>
  <PresentationFormat>On-screen Show (4:3)</PresentationFormat>
  <Paragraphs>276</Paragraphs>
  <Slides>44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Univers Light</vt:lpstr>
      <vt:lpstr>Open Sans Light</vt:lpstr>
      <vt:lpstr>-apple-system</vt:lpstr>
      <vt:lpstr>Calibri</vt:lpstr>
      <vt:lpstr>Kigelia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26</cp:revision>
  <dcterms:created xsi:type="dcterms:W3CDTF">2019-07-29T14:54:16Z</dcterms:created>
  <dcterms:modified xsi:type="dcterms:W3CDTF">2026-05-26T03:49:19Z</dcterms:modified>
</cp:coreProperties>
</file>